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5" r:id="rId21"/>
    <p:sldId id="269" r:id="rId22"/>
    <p:sldId id="273" r:id="rId23"/>
    <p:sldId id="276" r:id="rId24"/>
    <p:sldId id="277" r:id="rId25"/>
    <p:sldId id="2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ju Banerjee" userId="0e5ef2cb9d32a20a" providerId="LiveId" clId="{5691B1C0-8CBD-4D38-B0C7-A44D5D0EC537}"/>
    <pc:docChg chg="modSld">
      <pc:chgData name="Reeju Banerjee" userId="0e5ef2cb9d32a20a" providerId="LiveId" clId="{5691B1C0-8CBD-4D38-B0C7-A44D5D0EC537}" dt="2026-08-13T12:43:35.188" v="0" actId="20577"/>
      <pc:docMkLst>
        <pc:docMk/>
      </pc:docMkLst>
      <pc:sldChg chg="modSp mod">
        <pc:chgData name="Reeju Banerjee" userId="0e5ef2cb9d32a20a" providerId="LiveId" clId="{5691B1C0-8CBD-4D38-B0C7-A44D5D0EC537}" dt="2026-08-13T12:43:35.188" v="0" actId="20577"/>
        <pc:sldMkLst>
          <pc:docMk/>
          <pc:sldMk cId="674105621" sldId="277"/>
        </pc:sldMkLst>
        <pc:spChg chg="mod">
          <ac:chgData name="Reeju Banerjee" userId="0e5ef2cb9d32a20a" providerId="LiveId" clId="{5691B1C0-8CBD-4D38-B0C7-A44D5D0EC537}" dt="2026-08-13T12:43:35.188" v="0" actId="20577"/>
          <ac:spMkLst>
            <pc:docMk/>
            <pc:sldMk cId="674105621" sldId="277"/>
            <ac:spMk id="2" creationId="{83E5365B-5AF6-A220-AF2E-6462574644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5AA1-1BAC-2857-8752-7CB09BA06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A2C24-CC3D-EAC0-CCF6-7A36E5F7A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C636F-3CE5-AD5D-0DEF-31BFA3EC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1751F-2004-61BF-93B9-87FA74C1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B9E0A-0324-473C-CA25-28A9DBEC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2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711C-28A5-C861-0D16-B75BB27C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8C29E-2528-C03E-5B83-CC45809B5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F052C-FC21-14EB-E25A-BCC7B467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7E04B-35C7-8A09-3F81-3897A769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AF128-B669-DEB2-7DEB-D8CDF6A9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0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BF57D-86EF-628C-F5B2-5E7D53FCC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1C284-6D63-B63F-2755-39B426C83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7FBAC-6568-7D33-6FC3-BF48F7C8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D4A70-A1CB-67E6-FA57-ED2D15AE5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D4F32-53D4-42FB-8994-AA554B0A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2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51ED-081C-DACB-E748-25A3D647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16C1C-7B82-333C-FC38-8D641BC27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6EAAC-05DA-0CE0-EB60-284971A91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BD3EB-D2F3-B746-DEF2-D015356E5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53049-B89E-36C6-B4BA-5625B41AA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8D0D5-D381-608E-7407-DB74DA8A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7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ED6F-B5CD-2B56-4548-3A8DE267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46636-F58D-742B-D519-0564C7DEB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4946B-2FFF-1513-E403-7508FD768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85D1B-EA8A-9A05-6A64-FDDDA776B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E6725-A63F-0C37-12F1-CCE38069F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9D53DD-DB02-5B95-DB99-456F4935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95B777-9876-E57F-A664-882FAC91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A622C-D26C-6600-C5DB-559D74BF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83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6B08-6332-42D4-C6C2-D24F0A07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BBE69-8DC4-2E63-EE5F-6BFA13C5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BBE47-EF20-6C9F-0795-F84BBB390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9B424A-2F93-7BFD-5560-B22E270D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4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259470-38F7-1132-CAD6-182C5796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DE167-3897-CD3E-8A2B-486492E90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2AA69-A742-C569-BAFA-61930CCA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8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1C03E-CC43-D13E-39B0-AB4610994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A1C3A-BB8E-5FB0-F982-7C273AF2A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55088-D1EA-1081-68A4-34E14ADC4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2EA91-90C1-D329-1324-4A988B2BB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09FC1-8CD3-6527-DFC2-BD7C826F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A5BEA-B1D9-A4CF-17BE-752423B5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3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4C94-9A0C-93F8-23D3-3E81D824F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7718B0-D7DD-F6D1-7019-90E740D4A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CDAC8-3739-65A9-4BE7-9CB1BB59F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D2DFD-F747-09A5-BB72-1A5D3E91E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79A08-250A-EDEC-0E22-14F86B8A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36E12-2D46-23BA-2E9E-CF44449C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9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E177-51EC-4F37-E8CD-21016943F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C1573-A124-4D19-934B-C19248353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D1593-D0B9-D064-035F-BB9AECD3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BA6C6-53E5-C617-53D5-49FCF45B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815EE-C383-7DDE-6A3D-9DF588275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5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80E57B-9DFA-AE8C-FE60-227C8FB8D0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62DB2-326D-F9DA-B4DF-D0EB445AD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BF3F4-CB65-A86A-6CE7-07913DC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40930-D91A-59A2-1437-CF0F8B21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3A653-A735-A77C-51F8-2D24429DB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3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9E84B-009B-F886-98A5-446360BC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3E6FD-0DC4-560A-5F8E-AE1639217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A4D85-90B8-2660-D9A4-EC86D9DEC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3F297-E6F1-4EF6-A1CF-3B211765CEC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9D03-53C7-1482-0140-67691937F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547DB-DD71-3ABB-F138-19F711ACC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A87B6-D933-4EF9-96D6-CFAA965A3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6830-A536-DAB9-1EAC-E5B107261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342" y="778234"/>
            <a:ext cx="8947355" cy="165576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Explainable Multimodal AI Framework for Psychological Diagnostics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28ABF-1B4E-B97D-0D43-A295188EA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54709"/>
            <a:ext cx="9144000" cy="1012723"/>
          </a:xfrm>
        </p:spPr>
        <p:txBody>
          <a:bodyPr>
            <a:noAutofit/>
          </a:bodyPr>
          <a:lstStyle/>
          <a:p>
            <a:r>
              <a:rPr lang="en-US" sz="2800" dirty="0"/>
              <a:t>A Late-Fusion Deep Learning Architecture Integrating Vision, Audio, and Behavioral Telemetry for Clinical Stress Assessment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E57EC-49B5-2202-E53D-1A60AD87F21A}"/>
              </a:ext>
            </a:extLst>
          </p:cNvPr>
          <p:cNvSpPr txBox="1"/>
          <p:nvPr/>
        </p:nvSpPr>
        <p:spPr>
          <a:xfrm>
            <a:off x="1622322" y="4100051"/>
            <a:ext cx="89473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Team members:-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Shourya Shrivastava – RA2511003010559</a:t>
            </a:r>
          </a:p>
          <a:p>
            <a:pPr algn="ctr"/>
            <a:r>
              <a:rPr lang="en-US" sz="2400" dirty="0" err="1"/>
              <a:t>Reeju</a:t>
            </a:r>
            <a:r>
              <a:rPr lang="en-US" sz="2400" dirty="0"/>
              <a:t> Banerjee – RA2511003010548</a:t>
            </a:r>
          </a:p>
        </p:txBody>
      </p:sp>
    </p:spTree>
    <p:extLst>
      <p:ext uri="{BB962C8B-B14F-4D97-AF65-F5344CB8AC3E}">
        <p14:creationId xmlns:p14="http://schemas.microsoft.com/office/powerpoint/2010/main" val="2764368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D7513-E26B-FDC3-4644-8717FA4D5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>
                <a:solidFill>
                  <a:srgbClr val="FFFFFF"/>
                </a:solidFill>
              </a:rPr>
              <a:t>Problem Statement &amp; Significance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14DEE0-1FE4-138A-5ECB-16D58C98C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What problem are you solving ?: </a:t>
            </a:r>
            <a:r>
              <a:rPr lang="en-US" sz="2000"/>
              <a:t> Addressing the "Smiling Depression" blind spot where standard mental health AI systems fail by relying solely on facial recognition. </a:t>
            </a:r>
          </a:p>
          <a:p>
            <a:r>
              <a:rPr lang="en-US" sz="2000"/>
              <a:t> </a:t>
            </a:r>
            <a:r>
              <a:rPr lang="en-US" sz="2000" b="1"/>
              <a:t>Why is it important ? :</a:t>
            </a:r>
            <a:r>
              <a:rPr lang="en-US" sz="2000"/>
              <a:t> Basic emotion detection only captures fleeting facial expressions, whereas psychological distress and mental health issues are sustained conditions requiring reliable, continuous tracking. </a:t>
            </a:r>
          </a:p>
          <a:p>
            <a:r>
              <a:rPr lang="en-US" sz="2000"/>
              <a:t> </a:t>
            </a:r>
            <a:r>
              <a:rPr lang="en-US" sz="2000" b="1"/>
              <a:t>Current challenges :</a:t>
            </a:r>
            <a:r>
              <a:rPr lang="en-US" sz="2000"/>
              <a:t> Unimodal vision or audio models suffer from high false-positive rates due to environmental noise, visual occlusion, and emotional masking.  </a:t>
            </a:r>
          </a:p>
          <a:p>
            <a:r>
              <a:rPr lang="en-US" sz="2000" b="1"/>
              <a:t>Proposed solution : </a:t>
            </a:r>
            <a:r>
              <a:rPr lang="en-US" sz="2000"/>
              <a:t>A multi-task late-fusion framework that simultaneously integrates webcam vision, microphone audio, and behavioral telemetry to accurately diagnose clinical stress states.</a:t>
            </a:r>
          </a:p>
        </p:txBody>
      </p:sp>
    </p:spTree>
    <p:extLst>
      <p:ext uri="{BB962C8B-B14F-4D97-AF65-F5344CB8AC3E}">
        <p14:creationId xmlns:p14="http://schemas.microsoft.com/office/powerpoint/2010/main" val="135751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A9D38-9823-363D-7A83-E242FE3BE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 Architecture &amp; Feature Mapping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52372C-023D-009C-D3D6-712C85A8EBFF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Dataset Source: </a:t>
            </a:r>
            <a:r>
              <a:rPr lang="en-US" sz="1700"/>
              <a:t>Curated and provided directly by the CTECH Department, integrating multi-source inputs including facial expression image sets, audio samples, and structured behavioral telemetry logs.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Number of Samples: </a:t>
            </a:r>
            <a:r>
              <a:rPr lang="en-US" sz="1700"/>
              <a:t>Standardized train-test splits structured across the provided dataset matrix.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 </a:t>
            </a:r>
            <a:r>
              <a:rPr lang="en-US" sz="1700" b="1"/>
              <a:t>Number of Features: </a:t>
            </a:r>
            <a:r>
              <a:rPr lang="en-US" sz="1700"/>
              <a:t>Multimodal feature arrays including 48x48 vision pixel maps, 40-dimensional audio MFCCs, and 18-dimensional behavioral telemetry vectors. 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Target Variable: </a:t>
            </a:r>
            <a:r>
              <a:rPr lang="en-US" sz="1700"/>
              <a:t>4 Clinical Stress States (Healthy, Mild Stress, Moderate Stress, Severe Stress) mapped from 7 basic emotion profiles provided in the dataset. 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Data Types: </a:t>
            </a:r>
            <a:r>
              <a:rPr lang="en-US" sz="1700"/>
              <a:t>Grayscale image tensors (pixel arrays), sequential audio tensors (MFCC float arrays), and numerical/float arrays for behavioral telemetry.</a:t>
            </a:r>
          </a:p>
        </p:txBody>
      </p:sp>
    </p:spTree>
    <p:extLst>
      <p:ext uri="{BB962C8B-B14F-4D97-AF65-F5344CB8AC3E}">
        <p14:creationId xmlns:p14="http://schemas.microsoft.com/office/powerpoint/2010/main" val="456068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568EC-08DE-025E-9046-91214F0F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 b="1" u="sng">
                <a:solidFill>
                  <a:srgbClr val="FFFFFF"/>
                </a:solidFill>
              </a:rPr>
              <a:t>Data Preprocessing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B663A-F808-BAC1-985C-CC7A78F23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900" b="1"/>
              <a:t>Missing value treatment: </a:t>
            </a:r>
            <a:r>
              <a:rPr lang="en-US" sz="1900"/>
              <a:t>Applied automated zero-masking and imputation for missing audio or telemetry frames to maintain tensor dimensionality during inference.  </a:t>
            </a:r>
          </a:p>
          <a:p>
            <a:r>
              <a:rPr lang="en-US" sz="1900" b="1"/>
              <a:t>Label Encoding: </a:t>
            </a:r>
            <a:r>
              <a:rPr lang="en-US" sz="1900"/>
              <a:t>Target clinical categories label-encoded from integers 0 through 3 to prepare data for model training.  </a:t>
            </a:r>
          </a:p>
          <a:p>
            <a:r>
              <a:rPr lang="en-US" sz="1900" b="1"/>
              <a:t>One-Hot Encoding: </a:t>
            </a:r>
            <a:r>
              <a:rPr lang="en-US" sz="1900"/>
              <a:t>Utilized where categorical class mappings required multi-column binary representation.</a:t>
            </a:r>
          </a:p>
          <a:p>
            <a:r>
              <a:rPr lang="en-US" sz="1900" b="1"/>
              <a:t>Standard Scaler / MinMax Scaler: </a:t>
            </a:r>
            <a:r>
              <a:rPr lang="en-US" sz="1900"/>
              <a:t>Applied image pixel normalization (mean=[0.5], std=[0.5]) and scaling to stabilize gradient convergence during backpropagation.  </a:t>
            </a:r>
          </a:p>
          <a:p>
            <a:r>
              <a:rPr lang="en-US" sz="1900" b="1"/>
              <a:t>Outlier removal: </a:t>
            </a:r>
            <a:r>
              <a:rPr lang="en-US" sz="1900"/>
              <a:t>Handled via custom Focal Loss scaling rather than destructive deletion, protecting boundary cases from skewing the model.</a:t>
            </a:r>
          </a:p>
          <a:p>
            <a:r>
              <a:rPr lang="en-US" sz="1900" b="1"/>
              <a:t>Train-Test Split (80:20): </a:t>
            </a:r>
            <a:r>
              <a:rPr lang="en-US" sz="1900"/>
              <a:t>Structured standard 80:20 partitioning managed through optimized PyTorch DataLoader batching pipelines.</a:t>
            </a:r>
          </a:p>
        </p:txBody>
      </p:sp>
    </p:spTree>
    <p:extLst>
      <p:ext uri="{BB962C8B-B14F-4D97-AF65-F5344CB8AC3E}">
        <p14:creationId xmlns:p14="http://schemas.microsoft.com/office/powerpoint/2010/main" val="12549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F910A-454D-F202-F80E-DB883D201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>
                <a:solidFill>
                  <a:srgbClr val="FFFFFF"/>
                </a:solidFill>
              </a:rPr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8F187-7CCD-5611-2D53-87B113BCC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700" b="1"/>
              <a:t>Missing value graph:</a:t>
            </a:r>
            <a:r>
              <a:rPr lang="en-US" sz="1700"/>
              <a:t> Evaluated data gaps and verified zero-masking efficiency across input matrices.  </a:t>
            </a:r>
          </a:p>
          <a:p>
            <a:r>
              <a:rPr lang="en-US" sz="1700" b="1"/>
              <a:t>Correlation Heatmap: </a:t>
            </a:r>
            <a:r>
              <a:rPr lang="en-US" sz="1700"/>
              <a:t>Demonstrated high statistical correlation between behavioral telemetry variables and cognitive arousal levels.  </a:t>
            </a:r>
          </a:p>
          <a:p>
            <a:r>
              <a:rPr lang="en-US" sz="1700" b="1"/>
              <a:t>Class Distribution: </a:t>
            </a:r>
            <a:r>
              <a:rPr lang="en-US" sz="1700"/>
              <a:t>Analyzed sample counts across all four clinical stress categories to ensure equitable learning.  </a:t>
            </a:r>
          </a:p>
          <a:p>
            <a:r>
              <a:rPr lang="en-US" sz="1700" b="1"/>
              <a:t>Histogram:</a:t>
            </a:r>
            <a:r>
              <a:rPr lang="en-US" sz="1700"/>
              <a:t> Visualized feature frequencies and spectral distributions across input streams.  </a:t>
            </a:r>
          </a:p>
          <a:p>
            <a:r>
              <a:rPr lang="en-US" sz="1700" b="1"/>
              <a:t>Box Plot: </a:t>
            </a:r>
            <a:r>
              <a:rPr lang="en-US" sz="1700"/>
              <a:t>Assessed outlier dispersion and feature variance across audio MFCC bins and telemetry bounds.  </a:t>
            </a:r>
          </a:p>
          <a:p>
            <a:r>
              <a:rPr lang="en-US" sz="1700" b="1"/>
              <a:t>Dataset balance: </a:t>
            </a:r>
            <a:r>
              <a:rPr lang="en-US" sz="1700"/>
              <a:t>Ensured proper sample distributions to mitigate majority-class bias.  </a:t>
            </a:r>
          </a:p>
          <a:p>
            <a:r>
              <a:rPr lang="en-US" sz="1700" b="1"/>
              <a:t>Feature relationships: </a:t>
            </a:r>
            <a:r>
              <a:rPr lang="en-US" sz="1700"/>
              <a:t>Highlighted how numerical telemetry acts as an objective behavioral anchor when facial expressions are masked. </a:t>
            </a:r>
          </a:p>
          <a:p>
            <a:r>
              <a:rPr lang="en-US" sz="1700" b="1"/>
              <a:t>Important variables: </a:t>
            </a:r>
            <a:r>
              <a:rPr lang="en-US" sz="1700"/>
              <a:t>Identified keystroke typing frequency, mouse movement variance, and specific spectral audio coefficients as high-impact predictors.</a:t>
            </a:r>
          </a:p>
        </p:txBody>
      </p:sp>
    </p:spTree>
    <p:extLst>
      <p:ext uri="{BB962C8B-B14F-4D97-AF65-F5344CB8AC3E}">
        <p14:creationId xmlns:p14="http://schemas.microsoft.com/office/powerpoint/2010/main" val="3975005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BADA7-8319-5FA9-AD72-3BD81861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Correlation Heatmap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E6038E-C3C0-B256-676F-E3F6860F6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538701"/>
            <a:ext cx="7225748" cy="578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3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32E92-552F-58AA-A650-10DF7937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Histogram:-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A2A332-1B28-F3CE-C973-EC0262CAC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958" y="778118"/>
            <a:ext cx="7988419" cy="499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58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40647-3E8F-1777-92D9-797B531DF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u="sng" dirty="0">
                <a:solidFill>
                  <a:srgbClr val="FFFFFF"/>
                </a:solidFill>
              </a:rPr>
              <a:t>Methodology &amp;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DA0FB-A2B9-6C49-43F7-467921A8D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7010833" cy="5546047"/>
          </a:xfrm>
        </p:spPr>
        <p:txBody>
          <a:bodyPr anchor="ctr">
            <a:normAutofit lnSpcReduction="10000"/>
          </a:bodyPr>
          <a:lstStyle/>
          <a:p>
            <a:r>
              <a:rPr lang="en-US" sz="2000" b="1" dirty="0"/>
              <a:t>Methodology: </a:t>
            </a:r>
            <a:r>
              <a:rPr lang="en-US" sz="2000" dirty="0"/>
              <a:t> Implemented an explainable, multi-task late-fusion framework where parallel feature extractors process spatial, spectral, and behavioral streams independently before merging at the dense layer. </a:t>
            </a:r>
          </a:p>
          <a:p>
            <a:r>
              <a:rPr lang="en-US" sz="2000" b="1" dirty="0"/>
              <a:t>Machine learning models:-</a:t>
            </a:r>
          </a:p>
          <a:p>
            <a:r>
              <a:rPr lang="en-US" sz="2000" b="1" dirty="0"/>
              <a:t> </a:t>
            </a:r>
            <a:r>
              <a:rPr lang="en-US" sz="1600" dirty="0"/>
              <a:t>Vision: Convolutional Neural Network (CNN) extracting spatial micro-expression maps from 48x48 grayscale image tensors.</a:t>
            </a:r>
          </a:p>
          <a:p>
            <a:r>
              <a:rPr lang="en-US" sz="1600" dirty="0"/>
              <a:t>Audio: Feed-Forward / 1D-CNN network processing 40-dimensional Mel-Frequency Cepstral Coefficients (MFCCs).</a:t>
            </a:r>
          </a:p>
          <a:p>
            <a:r>
              <a:rPr lang="en-US" sz="1600" dirty="0"/>
              <a:t>Tabular: Feed-Forward Network analyzing 18-dimensional behavioral telemetry logs (typing speed, idle time, etc.).</a:t>
            </a:r>
          </a:p>
          <a:p>
            <a:r>
              <a:rPr lang="en-US" sz="2000" b="1" dirty="0"/>
              <a:t>Model Evaluation metrics: </a:t>
            </a:r>
            <a:r>
              <a:rPr lang="en-US" sz="2000" dirty="0"/>
              <a:t>Categorical Cross-Entropy Accuracy, Macro F1-Score, R-Squared ($R^2$) Score (0.9871), and Mean Absolute Error (0.8966) for severity regression.</a:t>
            </a:r>
          </a:p>
          <a:p>
            <a:r>
              <a:rPr lang="en-US" sz="2000" b="1" dirty="0"/>
              <a:t>Results:</a:t>
            </a:r>
            <a:r>
              <a:rPr lang="en-US" sz="2000" dirty="0"/>
              <a:t> The isolated subsystems scored ~40%–65% accuracy, whereas the Combined Fused Architecture achieved 95.38% Accuracy and 94.44% Macro F1-Score, proving a massive ~30% performance leap.</a:t>
            </a:r>
          </a:p>
        </p:txBody>
      </p:sp>
    </p:spTree>
    <p:extLst>
      <p:ext uri="{BB962C8B-B14F-4D97-AF65-F5344CB8AC3E}">
        <p14:creationId xmlns:p14="http://schemas.microsoft.com/office/powerpoint/2010/main" val="2351831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4E79-0F2C-072E-F0D3-06BBF8AB2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72" y="289368"/>
            <a:ext cx="11130280" cy="1194078"/>
          </a:xfrm>
        </p:spPr>
        <p:txBody>
          <a:bodyPr/>
          <a:lstStyle/>
          <a:p>
            <a:r>
              <a:rPr lang="en-US" b="1" u="sng" dirty="0"/>
              <a:t>System Architecture Diagram 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F71A92-F56D-7CF7-1A3F-CF0E2399C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2" y="2106592"/>
            <a:ext cx="12174552" cy="403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82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385F-7B19-5027-35C1-D7AB7281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61" y="98908"/>
            <a:ext cx="10515600" cy="1325563"/>
          </a:xfrm>
        </p:spPr>
        <p:txBody>
          <a:bodyPr/>
          <a:lstStyle/>
          <a:p>
            <a:r>
              <a:rPr lang="en-US" b="1" u="sng" dirty="0"/>
              <a:t>Resultant Metrics : 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E41325-85E8-0BE9-F1F0-B3EF6CAD9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44" y="1155459"/>
            <a:ext cx="9775785" cy="570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6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74F0-998A-A7E7-375F-FAC88482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13" y="11575"/>
            <a:ext cx="10515600" cy="1325563"/>
          </a:xfrm>
        </p:spPr>
        <p:txBody>
          <a:bodyPr/>
          <a:lstStyle/>
          <a:p>
            <a:r>
              <a:rPr lang="en-US" b="1" u="sng" dirty="0"/>
              <a:t>Ablation study:-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2ADAB4-2210-C42D-33E4-6189E29E8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10" y="1585732"/>
            <a:ext cx="11873579" cy="39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68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C3DE-70FC-48CD-EBA9-D9597909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597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Test set Inference #1 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82C7E5-949E-3179-B9B9-C1E6692DE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041723"/>
            <a:ext cx="10515600" cy="577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87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DA94-5673-3D59-F544-87561CD23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9113"/>
          </a:xfrm>
        </p:spPr>
        <p:txBody>
          <a:bodyPr/>
          <a:lstStyle/>
          <a:p>
            <a:r>
              <a:rPr lang="en-US" b="1" u="sng" dirty="0"/>
              <a:t>Test set Inference #2 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014D45-CB79-4033-1487-C4C2C83C0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05" y="1440048"/>
            <a:ext cx="10520295" cy="541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F66C-F302-B9C1-4094-B08A4A8E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8561"/>
          </a:xfrm>
        </p:spPr>
        <p:txBody>
          <a:bodyPr/>
          <a:lstStyle/>
          <a:p>
            <a:r>
              <a:rPr lang="en-US" b="1" u="sng" dirty="0"/>
              <a:t>Coefficient of Determination :-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E276545-2C1D-3466-EAF1-A265E0777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119" y="1526804"/>
            <a:ext cx="5877969" cy="511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92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8B4B-BF22-0D76-1A3A-91EC61188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941"/>
          </a:xfrm>
        </p:spPr>
        <p:txBody>
          <a:bodyPr/>
          <a:lstStyle/>
          <a:p>
            <a:r>
              <a:rPr lang="en-US" b="1" u="sng" dirty="0"/>
              <a:t>Final Classification Performance:-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95611E-7A99-E452-E714-9685245D8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628" y="1541964"/>
            <a:ext cx="8218025" cy="531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81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7214-F8CC-9109-4943-B5A4D5BB6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77" y="89000"/>
            <a:ext cx="10515600" cy="1325563"/>
          </a:xfrm>
        </p:spPr>
        <p:txBody>
          <a:bodyPr/>
          <a:lstStyle/>
          <a:p>
            <a:r>
              <a:rPr lang="en-US" b="1" u="sng" dirty="0"/>
              <a:t>Graphical User Interface(GUI):-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9EECA5-E091-DFF9-98A6-9EADE18CA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77" y="1933755"/>
            <a:ext cx="5985147" cy="3598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39BD99-2A77-D8BB-10A6-D95BAA8E6BB0}"/>
              </a:ext>
            </a:extLst>
          </p:cNvPr>
          <p:cNvSpPr txBox="1"/>
          <p:nvPr/>
        </p:nvSpPr>
        <p:spPr>
          <a:xfrm>
            <a:off x="6528122" y="1690687"/>
            <a:ext cx="544010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Currently Running Live AI stream feed.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Live AI stream feed can manually overridden by</a:t>
            </a:r>
            <a:br>
              <a:rPr lang="en-US" dirty="0"/>
            </a:br>
            <a:r>
              <a:rPr lang="en-US" dirty="0"/>
              <a:t>clicking on the designated buttons for healthy, mild, moderate and severe stress.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By clicking on “Reset to live AI mode” you return to Live AI stream.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By clicking on Generate Batch Inference grid you generate the “inference_grid.png in your project folder.</a:t>
            </a:r>
          </a:p>
          <a:p>
            <a:endParaRPr lang="en-US" dirty="0"/>
          </a:p>
          <a:p>
            <a:r>
              <a:rPr lang="en-US" dirty="0"/>
              <a:t>Telemetry is detected based on keyboard(wpm) and mouse variance.</a:t>
            </a:r>
          </a:p>
          <a:p>
            <a:endParaRPr lang="en-US" dirty="0"/>
          </a:p>
          <a:p>
            <a:r>
              <a:rPr lang="en-US" dirty="0"/>
              <a:t>40 dimensional audio is detected (environment should be suitable for testing).</a:t>
            </a:r>
          </a:p>
        </p:txBody>
      </p:sp>
    </p:spTree>
    <p:extLst>
      <p:ext uri="{BB962C8B-B14F-4D97-AF65-F5344CB8AC3E}">
        <p14:creationId xmlns:p14="http://schemas.microsoft.com/office/powerpoint/2010/main" val="2393399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066A737-B5FC-9D0C-264C-1F6252005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53706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2641C8-5997-31D2-EEDC-B55AD2A0A5BD}"/>
              </a:ext>
            </a:extLst>
          </p:cNvPr>
          <p:cNvSpPr txBox="1"/>
          <p:nvPr/>
        </p:nvSpPr>
        <p:spPr>
          <a:xfrm>
            <a:off x="0" y="5474825"/>
            <a:ext cx="1204924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To run: </a:t>
            </a:r>
          </a:p>
          <a:p>
            <a:r>
              <a:rPr lang="en-US" b="1" dirty="0"/>
              <a:t>Type the command</a:t>
            </a:r>
            <a:br>
              <a:rPr lang="en-US" dirty="0"/>
            </a:br>
            <a:r>
              <a:rPr lang="en-US" dirty="0"/>
              <a:t>“python gui_app.py”</a:t>
            </a:r>
          </a:p>
        </p:txBody>
      </p:sp>
    </p:spTree>
    <p:extLst>
      <p:ext uri="{BB962C8B-B14F-4D97-AF65-F5344CB8AC3E}">
        <p14:creationId xmlns:p14="http://schemas.microsoft.com/office/powerpoint/2010/main" val="1367214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20E31-BBA3-00F9-C797-26B810CC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342"/>
          </a:xfrm>
        </p:spPr>
        <p:txBody>
          <a:bodyPr/>
          <a:lstStyle/>
          <a:p>
            <a:r>
              <a:rPr lang="en-US" b="1" u="sng" dirty="0"/>
              <a:t>Inference generated through GUI 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24955-30BC-2FD4-4AAB-42D2C6E46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05" y="1281613"/>
            <a:ext cx="10846131" cy="557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0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BAA7-D103-6A5A-E804-A31A15E1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57" y="122056"/>
            <a:ext cx="6453851" cy="1325563"/>
          </a:xfrm>
        </p:spPr>
        <p:txBody>
          <a:bodyPr/>
          <a:lstStyle/>
          <a:p>
            <a:r>
              <a:rPr lang="en-US" b="1" u="sng" dirty="0"/>
              <a:t>Results of live_demo.py 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A0D23A-4BFC-D0CE-61FC-D1DBEC756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64" y="1261878"/>
            <a:ext cx="6870599" cy="54740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989240-675C-1843-4F19-BBEA5DF76715}"/>
              </a:ext>
            </a:extLst>
          </p:cNvPr>
          <p:cNvSpPr txBox="1"/>
          <p:nvPr/>
        </p:nvSpPr>
        <p:spPr>
          <a:xfrm>
            <a:off x="7454156" y="767257"/>
            <a:ext cx="450255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 depicts the live AI stream mode.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confidence box shows Depression, Anxiety and Stress confidence scores.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Live feed can be manually overridden with the following keyboard commands :-</a:t>
            </a:r>
            <a:br>
              <a:rPr lang="en-US" dirty="0"/>
            </a:br>
            <a:br>
              <a:rPr lang="en-US" dirty="0"/>
            </a:br>
            <a:r>
              <a:rPr lang="en-US" dirty="0"/>
              <a:t>0 – Healthy</a:t>
            </a:r>
            <a:br>
              <a:rPr lang="en-US" dirty="0"/>
            </a:br>
            <a:r>
              <a:rPr lang="en-US" dirty="0"/>
              <a:t>1 – Mild stress</a:t>
            </a:r>
            <a:br>
              <a:rPr lang="en-US" dirty="0"/>
            </a:br>
            <a:r>
              <a:rPr lang="en-US" dirty="0"/>
              <a:t>2 – Moderate Stress</a:t>
            </a:r>
            <a:br>
              <a:rPr lang="en-US" dirty="0"/>
            </a:br>
            <a:r>
              <a:rPr lang="en-US" dirty="0"/>
              <a:t>3 – Severe Stress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Press r to return to live AI stream mode.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Telemetry is detected based on keyboard(wpm) and mouse variance.</a:t>
            </a:r>
          </a:p>
          <a:p>
            <a:endParaRPr lang="en-US" dirty="0"/>
          </a:p>
          <a:p>
            <a:r>
              <a:rPr lang="en-US" dirty="0"/>
              <a:t>40 dimensional audio is detected (environment should be suitable for testing).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808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6D9CDC-DDEF-54E0-69B7-4B473F706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641"/>
            <a:ext cx="7667822" cy="5816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BD9C56-979B-3745-53F1-C7A26D9F53F4}"/>
              </a:ext>
            </a:extLst>
          </p:cNvPr>
          <p:cNvSpPr txBox="1"/>
          <p:nvPr/>
        </p:nvSpPr>
        <p:spPr>
          <a:xfrm>
            <a:off x="8009681" y="497710"/>
            <a:ext cx="38196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To run : -</a:t>
            </a:r>
          </a:p>
          <a:p>
            <a:endParaRPr lang="en-US" sz="3600" b="1" dirty="0"/>
          </a:p>
          <a:p>
            <a:r>
              <a:rPr lang="en-US" b="1" dirty="0"/>
              <a:t>Type the command </a:t>
            </a:r>
            <a:br>
              <a:rPr lang="en-US" b="1" dirty="0"/>
            </a:br>
            <a:r>
              <a:rPr lang="en-US" b="1" dirty="0"/>
              <a:t>“</a:t>
            </a:r>
            <a:r>
              <a:rPr lang="en-US" sz="2000" dirty="0"/>
              <a:t>python live_demo.py”</a:t>
            </a:r>
          </a:p>
        </p:txBody>
      </p:sp>
    </p:spTree>
    <p:extLst>
      <p:ext uri="{BB962C8B-B14F-4D97-AF65-F5344CB8AC3E}">
        <p14:creationId xmlns:p14="http://schemas.microsoft.com/office/powerpoint/2010/main" val="3840569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5365B-5AF6-A220-AF2E-64625746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Challenges</a:t>
            </a:r>
            <a:r>
              <a:rPr lang="en-US"/>
              <a:t>: Cloud </a:t>
            </a:r>
            <a:r>
              <a:rPr lang="en-US" dirty="0"/>
              <a:t>Deployment and Infrastructure Pivot :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E47C3-5ED4-5EEE-375D-599D441A0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We also tried deploying live on </a:t>
            </a:r>
            <a:r>
              <a:rPr lang="en-US" sz="9600" dirty="0" err="1"/>
              <a:t>Streamlit</a:t>
            </a:r>
            <a:r>
              <a:rPr lang="en-US" sz="9600" dirty="0"/>
              <a:t>, but runtime execution causes the platform to crash entirely because headless cloud containers lack local hardware bindings for OpenCV webcam capture and spatial tensor mapping.</a:t>
            </a:r>
          </a:p>
          <a:p>
            <a:endParaRPr lang="en-US" sz="9600" dirty="0"/>
          </a:p>
          <a:p>
            <a:r>
              <a:rPr lang="en-US" sz="9600" dirty="0"/>
              <a:t>Audio processing failed due to missing native system binaries (</a:t>
            </a:r>
            <a:r>
              <a:rPr lang="en-US" sz="9600" dirty="0" err="1"/>
              <a:t>libsndfile</a:t>
            </a:r>
            <a:r>
              <a:rPr lang="en-US" sz="9600" dirty="0"/>
              <a:t>), while behavioral telemetry broke down from severe client-server sync latency.</a:t>
            </a:r>
          </a:p>
          <a:p>
            <a:endParaRPr lang="en-US" sz="9600" dirty="0"/>
          </a:p>
          <a:p>
            <a:r>
              <a:rPr lang="en-US" sz="9600" dirty="0"/>
              <a:t>A mock-logic fallback was initially proposed to fake a working interface, but we intentionally scrapped it to avoid presenting simulated data to evaluators.</a:t>
            </a:r>
          </a:p>
          <a:p>
            <a:endParaRPr lang="en-US" sz="9600" dirty="0"/>
          </a:p>
          <a:p>
            <a:r>
              <a:rPr lang="en-US" sz="9600" dirty="0"/>
              <a:t>We chose technical integrity over a superficial UI, deprecating the cloud deployment in favor of a robust local runtime executing uncompromised </a:t>
            </a:r>
            <a:r>
              <a:rPr lang="en-US" sz="9600" dirty="0" err="1"/>
              <a:t>PyTorch</a:t>
            </a:r>
            <a:r>
              <a:rPr lang="en-US" sz="9600" dirty="0"/>
              <a:t> inference.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105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FCD1-770C-2E6B-A522-BF6BB1C3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Conclusion : 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5AE39-3611-8AD4-CF42-29D4D0ADA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lvl="0"/>
                <a:r>
                  <a:rPr lang="en-US" sz="3400" b="1" dirty="0"/>
                  <a:t>Multimodal Late-Fusion Architecture:</a:t>
                </a:r>
                <a:r>
                  <a:rPr lang="en-US" sz="3400" dirty="0"/>
                  <a:t> Successfully designed, implemented, and validated a late-fusion framework that integrates spatial vision streams, spectral audio processing (MFCCs), and behavioral telemetry.</a:t>
                </a:r>
              </a:p>
              <a:p>
                <a:pPr lvl="0"/>
                <a:endParaRPr lang="en-US" sz="3400" dirty="0"/>
              </a:p>
              <a:p>
                <a:pPr lvl="0"/>
                <a:r>
                  <a:rPr lang="en-US" sz="3400" b="1" dirty="0"/>
                  <a:t>Multi-Task Predictive Power:</a:t>
                </a:r>
                <a:r>
                  <a:rPr lang="en-US" sz="3400" dirty="0"/>
                  <a:t> Delivered a dual-output system capable of simultaneous categorical clinical classification and high-fidelity severity regression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400">
                        <a:latin typeface="Cambria Math" panose="02040503050406030204" pitchFamily="18" charset="0"/>
                      </a:rPr>
                      <m:t>=0.9871</m:t>
                    </m:r>
                  </m:oMath>
                </a14:m>
                <a:r>
                  <a:rPr lang="en-US" sz="3400" dirty="0"/>
                  <a:t>).</a:t>
                </a:r>
              </a:p>
              <a:p>
                <a:pPr marL="0" lvl="0" indent="0">
                  <a:buNone/>
                </a:pPr>
                <a:endParaRPr lang="en-US" sz="3400" dirty="0"/>
              </a:p>
              <a:p>
                <a:pPr lvl="0"/>
                <a:r>
                  <a:rPr lang="en-US" sz="3400" b="1" dirty="0"/>
                  <a:t>Explainable Design:</a:t>
                </a:r>
                <a:r>
                  <a:rPr lang="en-US" sz="3400" dirty="0"/>
                  <a:t> Prioritized modular backend transparency, ensuring a clear separation of feature extractors to support clinical auditability and model interpretability.</a:t>
                </a:r>
              </a:p>
              <a:p>
                <a:pPr marL="0" lvl="0" indent="0">
                  <a:buNone/>
                </a:pPr>
                <a:endParaRPr lang="en-US" sz="3400" dirty="0"/>
              </a:p>
              <a:p>
                <a:pPr lvl="0"/>
                <a:r>
                  <a:rPr lang="en-US" sz="3400" b="1" dirty="0"/>
                  <a:t>Deployment Readiness:</a:t>
                </a:r>
                <a:r>
                  <a:rPr lang="en-US" sz="3400" dirty="0"/>
                  <a:t> Established a scalable and structured data processing pipeline designed for practical implementation in remote psychological monitoring environments.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5AE39-3611-8AD4-CF42-29D4D0ADA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176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82D93445D21D4BA05E5FD5F299F378" ma:contentTypeVersion="4" ma:contentTypeDescription="Create a new document." ma:contentTypeScope="" ma:versionID="1b77b38c9877f4fa8e3b9785e403dd90">
  <xsd:schema xmlns:xsd="http://www.w3.org/2001/XMLSchema" xmlns:xs="http://www.w3.org/2001/XMLSchema" xmlns:p="http://schemas.microsoft.com/office/2006/metadata/properties" xmlns:ns3="216010e1-ac48-4001-bca2-f58cefedabb9" targetNamespace="http://schemas.microsoft.com/office/2006/metadata/properties" ma:root="true" ma:fieldsID="27a9d575fd74a2fd62e7acf0c4b53405" ns3:_="">
    <xsd:import namespace="216010e1-ac48-4001-bca2-f58cefedabb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6010e1-ac48-4001-bca2-f58cefedabb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AE9B05-CEE0-4AD0-9C0D-2C57DA32B5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7B45A0-16EF-40B2-B3FF-A41965C233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6010e1-ac48-4001-bca2-f58cefedab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3FDAF6-78BF-416B-875E-B3255ADD3A61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216010e1-ac48-4001-bca2-f58cefedabb9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1191</Words>
  <Application>Microsoft Office PowerPoint</Application>
  <PresentationFormat>Widescreen</PresentationFormat>
  <Paragraphs>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Office Theme</vt:lpstr>
      <vt:lpstr>Explainable Multimodal AI Framework for Psychological Diagnostics</vt:lpstr>
      <vt:lpstr>Problem Statement &amp; Significance</vt:lpstr>
      <vt:lpstr>Dataset Architecture &amp; Feature Mapping</vt:lpstr>
      <vt:lpstr>Data Preprocessing </vt:lpstr>
      <vt:lpstr>Data Analysis</vt:lpstr>
      <vt:lpstr>Correlation Heatmap</vt:lpstr>
      <vt:lpstr>Histogram:-</vt:lpstr>
      <vt:lpstr>Methodology &amp; Architecture</vt:lpstr>
      <vt:lpstr>System Architecture Diagram :-</vt:lpstr>
      <vt:lpstr>Resultant Metrics : -</vt:lpstr>
      <vt:lpstr>Ablation study:-</vt:lpstr>
      <vt:lpstr>Test set Inference #1 :-</vt:lpstr>
      <vt:lpstr>Test set Inference #2 :-</vt:lpstr>
      <vt:lpstr>Coefficient of Determination :-</vt:lpstr>
      <vt:lpstr>Final Classification Performance:-</vt:lpstr>
      <vt:lpstr>Graphical User Interface(GUI):-</vt:lpstr>
      <vt:lpstr>PowerPoint Presentation</vt:lpstr>
      <vt:lpstr>Inference generated through GUI :-</vt:lpstr>
      <vt:lpstr>Results of live_demo.py :-</vt:lpstr>
      <vt:lpstr>PowerPoint Presentation</vt:lpstr>
      <vt:lpstr>Technical Challenges: Cloud Deployment and Infrastructure Pivot : -</vt:lpstr>
      <vt:lpstr>Conclusion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Multimodal AI Framework for Psychological Diagnostics</dc:title>
  <dc:creator>SHOURYA SHRIVASTAVA (RA2511003010559)</dc:creator>
  <cp:lastModifiedBy>Reeju Banerjee</cp:lastModifiedBy>
  <cp:revision>2</cp:revision>
  <dcterms:created xsi:type="dcterms:W3CDTF">2026-08-13T09:51:59Z</dcterms:created>
  <dcterms:modified xsi:type="dcterms:W3CDTF">2026-08-13T12:43:36Z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0x0101007282D93445D21D4BA05E5FD5F299F378</vt:lpwstr>
  </property>
</Properties>
</file>